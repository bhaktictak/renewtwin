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3B82F6"/>
                </a:solidFill>
              </a:defRPr>
            </a:pPr>
            <a:r>
              <a:t>RENEWTWIN</a:t>
            </a:r>
          </a:p>
          <a:p>
            <a:pPr>
              <a:spcBef>
                <a:spcPts val="1200"/>
              </a:spcBef>
              <a:defRPr sz="2400">
                <a:solidFill>
                  <a:srgbClr val="F1F5F9"/>
                </a:solidFill>
              </a:defRPr>
            </a:pPr>
            <a:r>
              <a:t>AI-Powered Digital Twin for Predictive Management of Renewable Energy Assets</a:t>
            </a:r>
          </a:p>
          <a:p>
            <a:pPr>
              <a:spcBef>
                <a:spcPts val="2400"/>
              </a:spcBef>
              <a:defRPr sz="1600">
                <a:solidFill>
                  <a:srgbClr val="94A3B8"/>
                </a:solidFill>
              </a:defRPr>
            </a:pPr>
            <a:r>
              <a:t>Energy Innovation Challenge 2026 | Track 4: Digital Asset Management</a:t>
            </a:r>
            <a:br/>
            <a:r>
              <a:t>MC²Plus × Oil India Ltd. × IIT Kharagpur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PROBLEM STATEMENT</a:t>
            </a:r>
          </a:p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The Operational Problem in Renewable Plants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Arial"/>
              </a:defRPr>
            </a:pPr>
            <a:r>
              <a:t>Massive Asset Scale &amp; Distribution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Modern solar plants span thousands of acres with 50,000+ PV modules.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Manual physical inspections are slow, expensive, and logistically difficult.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Defects occur silently due to thermal stress, micro-cracks, and environmental exposure.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Arial"/>
              </a:defRPr>
            </a:pPr>
            <a:r>
              <a:t>Impact of Delayed Fault Detection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Avoidable energy losses occur long before manual discovery.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Unaddressed hot-spots lead to permanent module failure &amp; fire hazards.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Maintenance is reactive rather than predictive, driving up O&amp;M costs.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CURRENT LIMITATIONS</a:t>
            </a:r>
          </a:p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Why Existing Solutions Fall Short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Arial"/>
              </a:defRPr>
            </a:pPr>
            <a:r>
              <a:t>Traditional SCADA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Monitors aggregate plant output only.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Lacks module-level granular insight.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Cannot isolate root cause of degradation.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Arial"/>
              </a:defRPr>
            </a:pPr>
            <a:r>
              <a:t>Periodic Drone Imagery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Conducted only 1-2 times per year.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Generates static imagery without live telemetry linkage.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Leaves long blind spots between inspections.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Arial"/>
              </a:defRPr>
            </a:pPr>
            <a:r>
              <a:t>Isolated ML Tools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Perform single-image classification.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No digital state persistence.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Fails to prioritize tasks based on total energy impact.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THE SOLUTION</a:t>
            </a:r>
          </a:p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RenewTwin: Continuous Intelligence via Digital Twins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Arial"/>
              </a:defRPr>
            </a:pPr>
            <a:r>
              <a:t>Core Conceptual Shift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TRADITIONAL: Periodic inspection -&gt; Fault discovered -&gt; Maintenance -&gt; Energy loss already occurred.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RENEWTWIN: Continuous telemetry + AI defect detection -&gt; Digital Twin state persistence -&gt; Asset Health Scoring -&gt; Automated Priority Dispatch.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Arial"/>
              </a:defRPr>
            </a:pPr>
            <a:r>
              <a:t>Key Platform Capabilities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Renewable Asset Digital Twin Engine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Computer Vision Surface Defect Detection (ResNet-18)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Operational Telemetry Anomaly Detection (Isolation Forest)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Explainable Asset Health Scoring &amp; Priority Ranking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SYSTEM ARCHITECTURE</a:t>
            </a:r>
          </a:p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End-to-End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1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Arial"/>
              </a:defRPr>
            </a:pPr>
            <a:r>
              <a:t>Multimodal Architecture Pipeline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Data Ingestion: High-resolution visual imagery + Operational telemetry (Power, Temp, Irradiance).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AI Analysis Layer: ResNet-18 (Defect Classifier) + Isolation Forest (Operational Anomaly Detector).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Digital Twin Engine: Persistent digital representation tracking state, history, and physical parameters.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Health &amp; Priority Engine: 4-factor Asset Health Index (AHI) computation.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Operator Interface: FastAPI Backend + Real-time React Industrial Monitoring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AI &amp; ML METHODOLOGY</a:t>
            </a:r>
          </a:p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Dual AI Engine: Vision + Telemetry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Arial"/>
              </a:defRPr>
            </a:pPr>
            <a:r>
              <a:t>Visual Defect Detection (CNN)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Model: Deep Transfer Learning with ResNet-18.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Target Classes: Clean (None), Micro-Crack, Hotspot, Inactive/Cell Damage.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Outputs: Multi-class defect probability &amp; confidence score.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Arial"/>
              </a:defRPr>
            </a:pPr>
            <a:r>
              <a:t>Telemetry Anomaly Detection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Model: Isolation Forest (scikit-learn).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Features: Power deviation ratio (actual/expected), Temperature elevation, Irradiance.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Outputs: Unsupervised anomaly score (0.0 to 1.0).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DIGITAL TWIN DESIGN</a:t>
            </a:r>
          </a:p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Intelligent Digital Twin Schema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1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Arial"/>
              </a:defRPr>
            </a:pPr>
            <a:r>
              <a:t>Digital Twin Object Schema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Identity &amp; Location: asset_id (e.g. PV-A-014), asset_type, location (Array A/Row 17).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Physical Metrics: rated_capacity_kw (400 kW), current_power_kw, expected_power_kw, temperature_c.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AI Intelligence State: defect_class, defect_probability, anomaly_score.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Health &amp; Action: health_score (53.8), risk_level (AT RISK), maintenance_priority (#1), recommended_action.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HEALTH &amp; RISK SCORING</a:t>
            </a:r>
          </a:p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Prototype Asset Health Index (AHI)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Arial"/>
              </a:defRPr>
            </a:pPr>
            <a:r>
              <a:t>Scoring Formula Breakdown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AHI = 100 - Penalties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Visual Defect Penalty: 40% Weight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Operational Anomaly Penalty: 30% Weight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Performance Deviation Penalty: 20% Weight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Thermal Elevation Penalty: 10% Weight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Arial"/>
              </a:defRPr>
            </a:pPr>
            <a:r>
              <a:t>Operational Risk Categories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HEALTHY (90 - 100): Normal operation, routine monitoring.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MONITOR (75 - 89): Minor deviation/soiling, schedule periodic check.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AT RISK (50 - 74): Thermal anomaly / defect detected, prioritize inspection.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CRITICAL (&lt; 50): Severe failure imminent / heavy loss, immediate dispatch.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MAINTENANCE ENGINE</a:t>
            </a:r>
          </a:p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Actionable Maintenance Prioritization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1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Arial"/>
              </a:defRPr>
            </a:pPr>
            <a:r>
              <a:t>Impact-Driven Task Ranking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Answers: 'Which specific panel requires field technician intervention right now?'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Consolidates failure probability, estimated energy loss percentage, and thermal risk.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Outputs dynamically ordered dispatch queue (#1 PV-A-014: Hotspot, 46.9% loss estimated).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Eliminates wasted technician trips and focuses labor on maximum ROI repairs.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PRODUCT DEMONSTRATION</a:t>
            </a:r>
          </a:p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Industrial Operator Dashboard MVP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Arial"/>
              </a:defRPr>
            </a:pPr>
            <a:r>
              <a:t>Full-Stack Implementation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Backend: Python FastAPI with SQLite aiosqlite database &amp; RESTful routes.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Frontend: React + Vite with dark-themed industrial aesthetic.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Live Telemetry &amp; Digital Twin inspector modal with real-time update.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Arial"/>
              </a:defRPr>
            </a:pPr>
            <a:r>
              <a:t>Demo Flow Highlights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1. Plant KPI Overview (24 Active PV Assets).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2. Risk Distribution breakdown (13 Healthy, 5 Monitor, 6 At Risk).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3. Interactive Digital Twin drill-down on critical assets.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4. AI Inspection Upload simulation with live model feedback.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SCALABILITY &amp; ROADMAP</a:t>
            </a:r>
          </a:p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Future Roadmap &amp; Technical Scalability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Arial"/>
              </a:defRPr>
            </a:pPr>
            <a:r>
              <a:t>Multi-Asset Extension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Expand digital twin schemas from Solar PV to Wind Turbines and Battery Storage (BESS).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Edge Deployment: Lightweight ONNX/TensorRT inference on drone-mounted compute.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Arial"/>
              </a:defRPr>
            </a:pPr>
            <a:r>
              <a:t>Industrial Enterprise Integration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Time-Series DB: Migration from SQLite to InfluxDB / TimescaleDB.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Enterprise Connectors: Automated work order generation for SAP / IBM Maximo EAM.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CONCLUSION &amp; IMPACT</a:t>
            </a:r>
          </a:p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RenewTwin: Transforming Renewable O&amp;M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1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Arial"/>
              </a:defRPr>
            </a:pPr>
            <a:r>
              <a:t>Key Takeaways &amp; Value Delivered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Predictive Management: From reactive repair to continuous AI asset health monitoring.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Demonstrable MVP: Complete working backend, ML pipeline, digital twin engine, and React UI.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Commercial Viability: Direct reduction in LCOE, O&amp;M expenses, and avoidable power loss.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Arial"/>
              </a:defRPr>
            </a:pPr>
            <a:r>
              <a:t>• GitHub Repository: https://github.com/bhaktictak/RenewTwin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